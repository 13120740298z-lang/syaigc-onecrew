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788294529552_产品图集·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927" y="0"/>
            <a:ext cx="385762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847088"/>
            <a:ext cx="1280160" cy="10972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103120"/>
            <a:ext cx="69494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Microsoft YaHei"/>
                <a:ea typeface="Microsoft YaHei"/>
              </a:rPr>
              <a:t>OneCrew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FD4FF"/>
                </a:solidFill>
                <a:latin typeface="Microsoft YaHei"/>
                <a:ea typeface="Microsoft YaHei"/>
              </a:rPr>
              <a:t>一人出海 AIGC 内容官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FA3C0"/>
                </a:solidFill>
                <a:latin typeface="Microsoft YaHei"/>
                <a:ea typeface="Microsoft YaHei"/>
              </a:rPr>
              <a:t>一个人的内容小队：你说一句产品，八位 AI 队友接力，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FA3C0"/>
                </a:solidFill>
                <a:latin typeface="Microsoft YaHei"/>
                <a:ea typeface="Microsoft YaHei"/>
              </a:rPr>
              <a:t>183 秒拿到 13 个可发布工件——4 张 AI 产品图 + 1 条 15 秒竖屏带货成片。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943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SynNovator AIGC 技术赛道 · Wave 3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01 · 痛点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一个人做跨境，内容是最大的时间黑洞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TikTok Shop 时代：内容 = 流量 = 订单，但一个人根本发不过来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301752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4F7BD9"/>
                </a:solidFill>
                <a:latin typeface="Microsoft YaHei"/>
                <a:ea typeface="Microsoft YaHei"/>
              </a:rPr>
              <a:t>≥1 条 / 日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TikTok Shop 官方要求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Microsoft YaHei"/>
                <a:ea typeface="Microsoft YaHei"/>
              </a:rPr>
              <a:t>短视频日更是硬门槛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474720" cy="301752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4F7BD9"/>
                </a:solidFill>
                <a:latin typeface="Microsoft YaHei"/>
                <a:ea typeface="Microsoft YaHei"/>
              </a:rPr>
              <a:t>6-10 小时 / 周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60% 卖家被内容卡住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Microsoft YaHei"/>
                <a:ea typeface="Microsoft YaHei"/>
              </a:rPr>
              <a:t>选题→文案→图→片→日历 全手搓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965960"/>
            <a:ext cx="3474720" cy="301752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286000"/>
            <a:ext cx="3017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86A6A"/>
                </a:solidFill>
                <a:latin typeface="Microsoft YaHei"/>
                <a:ea typeface="Microsoft YaHei"/>
              </a:rPr>
              <a:t>≈40% 首年被封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78% 卖家搞不定合规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Microsoft YaHei"/>
                <a:ea typeface="Microsoft YaHei"/>
              </a:rPr>
              <a:t>广告法 / 文化禁忌 踩坑即限权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FD4FF"/>
                </a:solidFill>
                <a:latin typeface="Microsoft YaHei"/>
                <a:ea typeface="Microsoft YaHei"/>
              </a:rPr>
              <a:t>痛点不在「写文案」——在日更成片 + 每一条都不能踩合规红线。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02 · 竞品实测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8 家主流工具全测一遍：全链路 × 合规，行业空白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Predis · Simplified · Canva · InVideo · Fliki · CapCut · HeyGen · KreadoAI（详见 docs/01 §调研）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728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383280"/>
                <a:gridCol w="33832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anchor="ctr" marL="164592">
                    <a:solidFill>
                      <a:srgbClr val="4F7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8 家主流工具</a:t>
                      </a:r>
                    </a:p>
                  </a:txBody>
                  <a:tcPr anchor="ctr" marL="164592">
                    <a:solidFill>
                      <a:srgbClr val="4F7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OneCrew</a:t>
                      </a:r>
                    </a:p>
                  </a:txBody>
                  <a:tcPr anchor="ctr" marL="164592">
                    <a:solidFill>
                      <a:srgbClr val="4F7BD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市场调研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✗ 0/8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40 秒出报告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五平台文案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△ 部分 / 模板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8 位队友接力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AI 出图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△ 5/8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Seedream ×4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AI 成片（旁白+镜头+字幕）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△ 5/8 各自为战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端到端 15s 成片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内容日历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△ 2/8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CSV 可直发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广告法 / 文化合规体检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✗ 0/8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行业唯一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人工确认点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✗ 0/8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FD99B"/>
                          </a:solidFill>
                          <a:latin typeface="Microsoft YaHei"/>
                          <a:ea typeface="Microsoft YaHei"/>
                        </a:rPr>
                        <a:t>✓ 确认点 = 编辑点</a:t>
                      </a:r>
                    </a:p>
                  </a:txBody>
                  <a:tcPr anchor="ctr" marL="164592">
                    <a:solidFill>
                      <a:srgbClr val="1626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单次全流程成本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FA3C0"/>
                          </a:solidFill>
                          <a:latin typeface="Microsoft YaHei"/>
                          <a:ea typeface="Microsoft YaHei"/>
                        </a:rPr>
                        <a:t>订阅 $19+/月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FD4FF"/>
                          </a:solidFill>
                          <a:latin typeface="Microsoft YaHei"/>
                          <a:ea typeface="Microsoft YaHei"/>
                        </a:rPr>
                        <a:t>≈ ¥1.2 / 次</a:t>
                      </a:r>
                    </a:p>
                  </a:txBody>
                  <a:tcPr anchor="ctr" marL="164592">
                    <a:solidFill>
                      <a:srgbClr val="1B2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03 · 产品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八位 AI 队友接力：一条流水线交付可发布内容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上下文接力——导演复用视觉工坊的图，合规审的是真实产出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市场快研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1215" y="20574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243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5" y="2221992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C26B"/>
                </a:solidFill>
                <a:latin typeface="Microsoft YaHei"/>
                <a:ea typeface="Microsoft YaHei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人工确认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>确认点=编辑点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20574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221992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品牌声音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20574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2221992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五平台文案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64624" y="20574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1784" y="2221992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提示词工坊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1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6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视觉工坊 ×4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1215" y="3749039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8375" y="3913631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7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短片导演 15s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3749039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3913631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8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内容日历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3749039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3913631"/>
            <a:ext cx="1737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7BD9"/>
                </a:solidFill>
                <a:latin typeface="Microsoft YaHei"/>
                <a:ea typeface="Microsoft YaHei"/>
              </a:rPr>
              <a:t>9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合规体检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FD4FF"/>
                </a:solidFill>
                <a:latin typeface="Microsoft YaHei"/>
                <a:ea typeface="Microsoft YaHei"/>
              </a:rPr>
              <a:t>183 秒全流程 · 13 个可发布工件 · 每一步落盘留痕（data/runs 可复核）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04 · 实证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真实运行留痕，不是 PPT 数字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data/runs/*.json 逐事件落盘 · 前端「成本」页签直接记账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7BD9"/>
                </a:solidFill>
                <a:latin typeface="Microsoft YaHei"/>
                <a:ea typeface="Microsoft YaHei"/>
              </a:rPr>
              <a:t>183 秒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全流程耗时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7BD9"/>
                </a:solidFill>
                <a:latin typeface="Microsoft YaHei"/>
                <a:ea typeface="Microsoft YaHei"/>
              </a:rPr>
              <a:t>13 个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可发布工件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7BD9"/>
                </a:solidFill>
                <a:latin typeface="Microsoft YaHei"/>
                <a:ea typeface="Microsoft YaHei"/>
              </a:rPr>
              <a:t>9/9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步骤完成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901952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7BD9"/>
                </a:solidFill>
                <a:latin typeface="Microsoft YaHei"/>
                <a:ea typeface="Microsoft YaHei"/>
              </a:rPr>
              <a:t>¥1.32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10 次运行合计</a:t>
            </a:r>
          </a:p>
        </p:txBody>
      </p:sp>
      <p:pic>
        <p:nvPicPr>
          <p:cNvPr id="14" name="Picture 13" descr="06-run-timeline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5349240" cy="3008948"/>
          </a:xfrm>
          <a:prstGeom prst="rect">
            <a:avLst/>
          </a:prstGeom>
        </p:spPr>
      </p:pic>
      <p:pic>
        <p:nvPicPr>
          <p:cNvPr id="15" name="Picture 14" descr="05-workflow-done-artif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00400"/>
            <a:ext cx="5349240" cy="30089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Microsoft YaHei"/>
                <a:ea typeface="Microsoft YaHei"/>
              </a:rPr>
              <a:t>运行时间线（9 步全绿）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8FA3C0"/>
                </a:solidFill>
                <a:latin typeface="Microsoft YaHei"/>
                <a:ea typeface="Microsoft YaHei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05 · 媒体工程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真·成片：可直接发布的带货短视频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AI 配音 + 程序化运镜 + 硬字幕，1080×1920 MP4 当场可播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pic>
        <p:nvPicPr>
          <p:cNvPr id="6" name="Picture 5" descr="pp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2340292" cy="4160520"/>
          </a:xfrm>
          <a:prstGeom prst="rect">
            <a:avLst/>
          </a:prstGeom>
        </p:spPr>
      </p:pic>
      <p:pic>
        <p:nvPicPr>
          <p:cNvPr id="7" name="Picture 6" descr="1788294529558_产品图集·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828800"/>
            <a:ext cx="2340292" cy="4160520"/>
          </a:xfrm>
          <a:prstGeom prst="rect">
            <a:avLst/>
          </a:prstGeom>
        </p:spPr>
      </p:pic>
      <p:pic>
        <p:nvPicPr>
          <p:cNvPr id="8" name="Picture 7" descr="1788294529562_产品图集·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1828800"/>
            <a:ext cx="2340292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920240"/>
            <a:ext cx="3840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15 秒竖屏带货片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FD4FF"/>
                </a:solidFill>
                <a:latin typeface="Microsoft YaHei"/>
                <a:ea typeface="Microsoft YaHei"/>
              </a:rPr>
              <a:t>· Edge TTS 多语言配音（中/英/日/韩）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FD4FF"/>
                </a:solidFill>
                <a:latin typeface="Microsoft YaHei"/>
                <a:ea typeface="Microsoft YaHei"/>
              </a:rPr>
              <a:t>· Ken Burns 运镜 + xfade 转场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FD4FF"/>
                </a:solidFill>
                <a:latin typeface="Microsoft YaHei"/>
                <a:ea typeface="Microsoft YaHei"/>
              </a:rPr>
              <a:t>· ASS 硬字幕（Noto CJK / 雅黑）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FD4FF"/>
                </a:solidFill>
                <a:latin typeface="Microsoft YaHei"/>
                <a:ea typeface="Microsoft YaHei"/>
              </a:rPr>
              <a:t>· BGM 自动 ducking 压混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成片 14 秒出片——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Microsoft YaHei"/>
                <a:ea typeface="Microsoft YaHei"/>
              </a:rPr>
              <a:t>1.2 元成本下的正确工程取舍；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Microsoft YaHei"/>
                <a:ea typeface="Microsoft YaHei"/>
              </a:rPr>
              <a:t>接 Seedance i2v 即升级真视频片段，架构已预留。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06 · 技术亮点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可上线产品与 demo 的分水岭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Agent 图谱执行器 · 上下文接力 · 媒体工程 · 可靠性设计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1874519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7BD9"/>
                </a:solidFill>
                <a:latin typeface="Microsoft YaHei"/>
                <a:ea typeface="Microsoft YaHei"/>
              </a:rPr>
              <a:t>Agent 图谱执行器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9 步状态机 + append-only 事件日志；每步落盘，评审可复核 data/runs/*.json。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94960" cy="1874519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7BD9"/>
                </a:solidFill>
                <a:latin typeface="Microsoft YaHei"/>
                <a:ea typeface="Microsoft YaHei"/>
              </a:rPr>
              <a:t>上下文接力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每步工件摘要注入下游 context：短片导演直接复用 4 张图，合规体检审真实产出——拒绝「各步独立伪协作」。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394960" cy="1874519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024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7BD9"/>
                </a:solidFill>
                <a:latin typeface="Microsoft YaHei"/>
                <a:ea typeface="Microsoft YaHei"/>
              </a:rPr>
              <a:t>媒体工程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Seedream 4.0 生图 0.2 元/张 + Edge TTS 免费配音 + 自研 ffmpeg 合成层（运镜/xfade/ASS/ducking）。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69080"/>
            <a:ext cx="5394960" cy="1874519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70248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7BD9"/>
                </a:solidFill>
                <a:latin typeface="Microsoft YaHei"/>
                <a:ea typeface="Microsoft YaHei"/>
              </a:rPr>
              <a:t>可靠性设计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双重试 + 结构校验 + 确定性 mock 兜底；无生图 Key 自动降级「构图小样」并明示——全流程永不中断。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41248"/>
          </a:xfrm>
          <a:prstGeom prst="rect">
            <a:avLst/>
          </a:prstGeom>
          <a:solidFill>
            <a:srgbClr val="4F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FD4FF"/>
                </a:solidFill>
                <a:latin typeface="Microsoft YaHei"/>
                <a:ea typeface="Microsoft YaHei"/>
              </a:rPr>
              <a:t>07 · 商业模式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按次订阅：成本透明到分，毛利结构成立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真实记账（LLM+生图+TTS），前端「成本」页签可见每一笔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283464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4F7BD9"/>
                </a:solidFill>
                <a:latin typeface="Microsoft YaHei"/>
                <a:ea typeface="Microsoft YaHei"/>
              </a:rPr>
              <a:t>¥1.2 / 次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单次全流程成本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Microsoft YaHei"/>
                <a:ea typeface="Microsoft YaHei"/>
              </a:rPr>
              <a:t>LLM 0.24 + 真图 0.8 + TTS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474720" cy="283464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¥49 / 月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订阅 30 次 / 月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Microsoft YaHei"/>
                <a:ea typeface="Microsoft YaHei"/>
              </a:rPr>
              <a:t>免费版 1 次/天 引流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65960"/>
            <a:ext cx="3474720" cy="2834640"/>
          </a:xfrm>
          <a:prstGeom prst="roundRect">
            <a:avLst>
              <a:gd name="adj" fmla="val 10000"/>
            </a:avLst>
          </a:prstGeom>
          <a:solidFill>
            <a:srgbClr val="16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28600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6FD99B"/>
                </a:solidFill>
                <a:latin typeface="Microsoft YaHei"/>
                <a:ea typeface="Microsoft YaHei"/>
              </a:rPr>
              <a:t>&gt;95%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订阅毛利率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Microsoft YaHei"/>
                <a:ea typeface="Microsoft YaHei"/>
              </a:rPr>
              <a:t>边际成本 ≈ 单次记账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FD4FF"/>
                </a:solidFill>
                <a:latin typeface="Microsoft YaHei"/>
                <a:ea typeface="Microsoft YaHei"/>
              </a:rPr>
              <a:t>锚点：UGC 外包 $45-212/条 · 代运营 ¥5k-30k/月 → OneCrew 是 1/100 量级。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788297850396_产品图集·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927" y="0"/>
            <a:ext cx="385762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2011680"/>
            <a:ext cx="7132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一个人 = 一支内容小队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FD4FF"/>
                </a:solidFill>
                <a:latin typeface="Microsoft YaHei"/>
                <a:ea typeface="Microsoft YaHei"/>
              </a:rPr>
              <a:t>别人还在写文案，我们的用户已经在发视频。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FA3C0"/>
                </a:solidFill>
                <a:latin typeface="Microsoft YaHei"/>
                <a:ea typeface="Microsoft YaHei"/>
              </a:rPr>
              <a:t>每一分钱、每一步、每一个工件，全部可复核。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5943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Microsoft YaHei"/>
                <a:ea typeface="Microsoft YaHei"/>
              </a:rPr>
              <a:t>SynNovator AIGC 技术赛道 · Wave 3 Agents · OneCrew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4739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Microsoft YaHei"/>
                <a:ea typeface="Microsoft YaHei"/>
              </a:rPr>
              <a:t>OneCrew · SynNovator Wave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